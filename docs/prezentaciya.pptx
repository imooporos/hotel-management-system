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54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Times New Roman"/>
              </a:defRPr>
            </a:pPr>
            <a:r>
              <a:t>Министерство науки и высшего образования Российской Федерации</a:t>
            </a:r>
            <a:br/>
            <a:r>
              <a:t>ФГБОУ ВО «НовГУ имени Ярослава Мудрого» — Политехнический колледж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180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Times New Roman"/>
              </a:defRPr>
            </a:pPr>
            <a:r>
              <a:t>РАЗРАБОТКА ИНФОРМАЦИОННОЙ СИСТЕМЫ</a:t>
            </a:r>
            <a:br/>
            <a:r>
              <a:t>ДЛЯ УПРАВЛЕНИЯ ГОСТИНИЦЕЙ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3240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Times New Roman"/>
              </a:defRPr>
            </a:pPr>
            <a:r>
              <a:t>Курсовой проект по дисциплине</a:t>
            </a:r>
            <a:br/>
            <a:r>
              <a:t>МДК 11.01 «Технология разработки и защиты баз данных»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0" y="4680000"/>
            <a:ext cx="50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Times New Roman"/>
              </a:defRPr>
            </a:pPr>
            <a:r>
              <a:t>Руководитель: _______________</a:t>
            </a:r>
            <a:br/>
            <a:r>
              <a:t>Обучающийся: _______________</a:t>
            </a:r>
            <a:br/>
            <a:r>
              <a:t>Группа: _______________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0" y="6120000"/>
            <a:ext cx="36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Times New Roman"/>
              </a:defRPr>
            </a:pPr>
            <a:r>
              <a:t>Великий Новгород,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Times New Roman"/>
              </a:defRPr>
            </a:pPr>
            <a:r>
              <a:t>Актуальность и цель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1260000"/>
            <a:ext cx="54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5B6"/>
                </a:solidFill>
                <a:latin typeface="Times New Roman"/>
              </a:defRPr>
            </a:pPr>
            <a:r>
              <a:t>Актуальность: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980000"/>
            <a:ext cx="540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Times New Roman"/>
              </a:defRPr>
            </a:pPr>
            <a:r>
              <a:t>• Рост потребности в автоматизации гостиничного бизнеса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Times New Roman"/>
              </a:defRPr>
            </a:pPr>
            <a:r>
              <a:t>• Высокая стоимость существующих решений (1С:Отель, Bnovo)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Times New Roman"/>
              </a:defRPr>
            </a:pPr>
            <a:r>
              <a:t>• Необходимость контроля данных и разграничения доступа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Times New Roman"/>
              </a:defRPr>
            </a:pPr>
            <a:r>
              <a:t>• Отсутствие открытых решений с полной поддержкой PostgreSQL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0000" y="1260000"/>
            <a:ext cx="54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5B6"/>
                </a:solidFill>
                <a:latin typeface="Times New Roman"/>
              </a:defRPr>
            </a:pPr>
            <a:r>
              <a:t>Цель: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0000" y="1980000"/>
            <a:ext cx="540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Times New Roman"/>
              </a:defRPr>
            </a:pPr>
            <a:r>
              <a:t>• Разработать клиент-серверную ИС для управления гостиницей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Times New Roman"/>
              </a:defRPr>
            </a:pPr>
            <a:r>
              <a:t>• Использовать PostgreSQL 16 с полным набором объектов БД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Times New Roman"/>
              </a:defRPr>
            </a:pPr>
            <a:r>
              <a:t>• Реализовать многоуровневую защиту данных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Times New Roman"/>
              </a:defRPr>
            </a:pPr>
            <a:r>
              <a:t>• Обеспечить кроссплатформенность клиента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Times New Roman"/>
              </a:defRPr>
            </a:pPr>
            <a:r>
              <a:t>Задачи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260000"/>
            <a:ext cx="10800000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Times New Roman"/>
              </a:defRPr>
            </a:pPr>
            <a:r>
              <a:t>1. Провести анализ предметной области и выявить требования к ИС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Times New Roman"/>
              </a:defRPr>
            </a:pPr>
            <a:r>
              <a:t>2. Спроектировать реляционную БД в третьей нормальной форме (3НФ)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Times New Roman"/>
              </a:defRPr>
            </a:pPr>
            <a:r>
              <a:t>3. Реализовать объекты БД: 3 домена, 3 ENUM, 11 таблиц, 12 индексов,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Times New Roman"/>
              </a:defRPr>
            </a:pPr>
            <a:r>
              <a:t>    4 представления, 3 функции, 5 процедур, 4 триггера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Times New Roman"/>
              </a:defRPr>
            </a:pPr>
            <a:r>
              <a:t>4. Разработать серверную часть (REST API) на FastAPI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Times New Roman"/>
              </a:defRPr>
            </a:pPr>
            <a:r>
              <a:t>5. Разработать десктопный клиент на Flet и веб-клиент (SPA)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Times New Roman"/>
              </a:defRPr>
            </a:pPr>
            <a:r>
              <a:t>6. Реализовать защиту: JWT, bcrypt, RBAC, RLS, аудит-лог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Times New Roman"/>
              </a:defRPr>
            </a:pPr>
            <a:r>
              <a:t>7. Развернуть систему на сервере и провести тестирование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Times New Roman"/>
              </a:defRPr>
            </a:pPr>
            <a:r>
              <a:t>Стек технологий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1260000"/>
          <a:ext cx="10800000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3600000"/>
                <a:gridCol w="3600000"/>
              </a:tblGrid>
              <a:tr h="5850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Компонент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Технология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Обоснование выбора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</a:tr>
              <a:tr h="585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СУБД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PostgreSQL 16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Домены, ENUM, RLS, GiST, JSONB, хранимые процедуры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585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FastAPI + asyncpg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Async, OpenAPI, Pydantic v2, высокая производительность</a:t>
                      </a:r>
                    </a:p>
                  </a:txBody>
                  <a:tcPr/>
                </a:tc>
              </a:tr>
              <a:tr h="585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Desktop-клиент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Flet (Flutter)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Кроссплатформенность, Python, Material Design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585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Web-клиент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HTML/CSS/JS (SPA)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Без зависимостей, быстрая загрузка, адаптивность</a:t>
                      </a:r>
                    </a:p>
                  </a:txBody>
                  <a:tcPr/>
                </a:tc>
              </a:tr>
              <a:tr h="585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Аутентификация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JWT + bcrypt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Stateless авторизация, безопасное хэширование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585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Отчёты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ReportLab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Генерация PDF-бланков на сервере</a:t>
                      </a:r>
                    </a:p>
                  </a:txBody>
                  <a:tcPr/>
                </a:tc>
              </a:tr>
              <a:tr h="585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Язык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Python 3.13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Высокоуровневый, кроссплатформенный, богатая экосистема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Times New Roman"/>
              </a:defRPr>
            </a:pPr>
            <a:r>
              <a:t>Архитектура системы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440000"/>
            <a:ext cx="3240000" cy="21600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latin typeface="Times New Roman"/>
              </a:defRPr>
            </a:pPr>
            <a:r>
              <a:t>Клиент</a:t>
            </a:r>
          </a:p>
          <a:p>
            <a:pPr>
              <a:defRPr sz="1400">
                <a:latin typeface="Times New Roman"/>
              </a:defRPr>
            </a:pPr>
            <a:r>
              <a:t>• Flet (Desktop)</a:t>
            </a:r>
          </a:p>
          <a:p>
            <a:pPr>
              <a:defRPr sz="1400">
                <a:latin typeface="Times New Roman"/>
              </a:defRPr>
            </a:pPr>
            <a:r>
              <a:t>• Web SPA (JS)</a:t>
            </a:r>
          </a:p>
          <a:p>
            <a:pPr>
              <a:defRPr sz="1400">
                <a:latin typeface="Times New Roman"/>
              </a:defRPr>
            </a:pPr>
            <a:r>
              <a:t>• Адаптивный дизайн</a:t>
            </a:r>
          </a:p>
          <a:p>
            <a:pPr>
              <a:defRPr sz="1400">
                <a:latin typeface="Times New Roman"/>
              </a:defRPr>
            </a:pPr>
            <a:r>
              <a:t>• JWT-авторизация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40000" y="2160000"/>
            <a:ext cx="1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5B6"/>
                </a:solidFill>
                <a:latin typeface="Times New Roman"/>
              </a:defRPr>
            </a:pPr>
            <a:r>
              <a:t>→ HTTP/JSON →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0000" y="1440000"/>
            <a:ext cx="3240000" cy="21600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latin typeface="Times New Roman"/>
              </a:defRPr>
            </a:pPr>
            <a:r>
              <a:t>Сервер (FastAPI)</a:t>
            </a:r>
          </a:p>
          <a:p>
            <a:pPr>
              <a:defRPr sz="1400">
                <a:latin typeface="Times New Roman"/>
              </a:defRPr>
            </a:pPr>
            <a:r>
              <a:t>• REST API (25+ эндпоинтов)</a:t>
            </a:r>
          </a:p>
          <a:p>
            <a:pPr>
              <a:defRPr sz="1400">
                <a:latin typeface="Times New Roman"/>
              </a:defRPr>
            </a:pPr>
            <a:r>
              <a:t>• JWT + RBAC</a:t>
            </a:r>
          </a:p>
          <a:p>
            <a:pPr>
              <a:defRPr sz="1400">
                <a:latin typeface="Times New Roman"/>
              </a:defRPr>
            </a:pPr>
            <a:r>
              <a:t>• Pydantic v2</a:t>
            </a:r>
          </a:p>
          <a:p>
            <a:pPr>
              <a:defRPr sz="1400">
                <a:latin typeface="Times New Roman"/>
              </a:defRPr>
            </a:pPr>
            <a:r>
              <a:t>• PDF-генератор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60000" y="2160000"/>
            <a:ext cx="1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5B6"/>
                </a:solidFill>
                <a:latin typeface="Times New Roman"/>
              </a:defRPr>
            </a:pPr>
            <a:r>
              <a:t>→ asyncpg 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9360000" y="1440000"/>
            <a:ext cx="2340000" cy="2160000"/>
          </a:xfrm>
          <a:prstGeom prst="rect">
            <a:avLst/>
          </a:prstGeom>
          <a:solidFill>
            <a:srgbClr val="D6E4F0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latin typeface="Times New Roman"/>
              </a:defRPr>
            </a:pPr>
            <a:r>
              <a:t>PostgreSQL 16</a:t>
            </a:r>
          </a:p>
          <a:p>
            <a:pPr>
              <a:defRPr sz="1200">
                <a:latin typeface="Times New Roman"/>
              </a:defRPr>
            </a:pPr>
            <a:r>
              <a:t>• 11 таблиц</a:t>
            </a:r>
          </a:p>
          <a:p>
            <a:pPr>
              <a:defRPr sz="1200">
                <a:latin typeface="Times New Roman"/>
              </a:defRPr>
            </a:pPr>
            <a:r>
              <a:t>• 4 представления</a:t>
            </a:r>
          </a:p>
          <a:p>
            <a:pPr>
              <a:defRPr sz="1200">
                <a:latin typeface="Times New Roman"/>
              </a:defRPr>
            </a:pPr>
            <a:r>
              <a:t>• 3 функции</a:t>
            </a:r>
          </a:p>
          <a:p>
            <a:pPr>
              <a:defRPr sz="1200">
                <a:latin typeface="Times New Roman"/>
              </a:defRPr>
            </a:pPr>
            <a:r>
              <a:t>• 5 процедур</a:t>
            </a:r>
          </a:p>
          <a:p>
            <a:pPr>
              <a:defRPr sz="1200">
                <a:latin typeface="Times New Roman"/>
              </a:defRPr>
            </a:pPr>
            <a:r>
              <a:t>• 4 триггера</a:t>
            </a:r>
          </a:p>
          <a:p>
            <a:pPr>
              <a:defRPr sz="1200">
                <a:latin typeface="Times New Roman"/>
              </a:defRPr>
            </a:pPr>
            <a:r>
              <a:t>• RLS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Times New Roman"/>
              </a:defRPr>
            </a:pPr>
            <a:r>
              <a:t>ER-модель базы данных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1260000"/>
          <a:ext cx="10800000" cy="50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/>
                <a:gridCol w="2700000"/>
                <a:gridCol w="2700000"/>
                <a:gridCol w="2700000"/>
              </a:tblGrid>
              <a:tr h="504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Сущность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Таблица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Ключевые атрибуты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Связи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Пользователь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users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email, password_hash, role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1:1 → profiles, 1:N → bookings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Профиль гостя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guest_profiles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passport, birth_date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N:1 → users</a:t>
                      </a:r>
                    </a:p>
                  </a:txBody>
                  <a:tcPr/>
                </a:tc>
              </a:tr>
              <a:tr h="504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Категория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room_categories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name, base_price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1:N → rooms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Номер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rooms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room_number, floor, 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N:1 → categories, M:N → amenities</a:t>
                      </a:r>
                    </a:p>
                  </a:txBody>
                  <a:tcPr/>
                </a:tc>
              </a:tr>
              <a:tr h="504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Удобства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amenities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M:N → rooms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Бронирование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bookings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check_in/out, status,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N:1 → users, N:1 → rooms</a:t>
                      </a:r>
                    </a:p>
                  </a:txBody>
                  <a:tcPr/>
                </a:tc>
              </a:tr>
              <a:tr h="504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Услуга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services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name, price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M:N → bookings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Оплата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payments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amount,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N:1 → bookings</a:t>
                      </a:r>
                    </a:p>
                  </a:txBody>
                  <a:tcPr/>
                </a:tc>
              </a:tr>
              <a:tr h="504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Аудит-лог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audit_log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action, old/new_data (JSONB)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Автозаполнение триггером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Times New Roman"/>
              </a:defRPr>
            </a:pPr>
            <a:r>
              <a:t>Домены и пользовательские типы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260000"/>
            <a:ext cx="50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5B6"/>
                </a:solidFill>
                <a:latin typeface="Times New Roman"/>
              </a:defRPr>
            </a:pPr>
            <a:r>
              <a:t>Пользовательские домены: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20000" y="1800000"/>
          <a:ext cx="504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0000"/>
                <a:gridCol w="1680000"/>
                <a:gridCol w="1680000"/>
              </a:tblGrid>
              <a:tr h="4500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Домен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Тип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Проверка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email_domain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VARCHAR(255)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Regex email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phone_domain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VARCHAR(20)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+7XXXXXXXXXX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price_domain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NUMERIC(12,2)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VALUE &gt;= 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80000" y="1260000"/>
            <a:ext cx="50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5B6"/>
                </a:solidFill>
                <a:latin typeface="Times New Roman"/>
              </a:defRPr>
            </a:pPr>
            <a:r>
              <a:t>ENUM-типы: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80000" y="1800000"/>
          <a:ext cx="504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2520000"/>
              </a:tblGrid>
              <a:tr h="4500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Тип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Значения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user_role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guest, manager, admin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room_status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available, occupied, maintenance, cleaning</a:t>
                      </a:r>
                    </a:p>
                  </a:txBody>
                  <a:tcPr/>
                </a:tc>
              </a:tr>
              <a:tr h="450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booking_status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pending, confirmed, checked_in, checked_out, cancelled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20000" y="396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  <a:latin typeface="Times New Roman"/>
              </a:defRPr>
            </a:pPr>
            <a:r>
              <a:t>Домены обеспечивают валидацию данных на уровне СУБД — некорректные данные</a:t>
            </a:r>
            <a:br/>
            <a:r>
              <a:t>невозможно записать в БД даже при обходе приложения.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Times New Roman"/>
              </a:defRPr>
            </a:pPr>
            <a:r>
              <a:t>Таблицы и индексы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260000"/>
            <a:ext cx="54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5B6"/>
                </a:solidFill>
                <a:latin typeface="Times New Roman"/>
              </a:defRPr>
            </a:pPr>
            <a:r>
              <a:t>11 таблиц базы данных: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800000"/>
            <a:ext cx="54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• users — учётные записи пользователей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• guest_profiles — расширенные профили гостей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• room_categories — категории номеров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• rooms — номера гостиницы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• amenities — удобства (Wi-Fi, мини-бар...)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• room_amenities — связь M:N номеров и удобств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• bookings — бронирования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• services — дополнительные услуги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• booking_services — связь M:N бронирований и услуг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• payments — платежи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• audit_log — журнал изменений (JSONB)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0" y="1260000"/>
            <a:ext cx="50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5B6"/>
                </a:solidFill>
                <a:latin typeface="Times New Roman"/>
              </a:defRPr>
            </a:pPr>
            <a:r>
              <a:t>12 индексов: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0" y="1800000"/>
            <a:ext cx="504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• idx_users_email (B-tree)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• idx_users_role (B-tree)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• idx_rooms_category (B-tree)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• idx_rooms_status (B-tree)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• idx_bookings_user (B-tree)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• idx_bookings_room (B-tree)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• idx_bookings_status (B-tree)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• idx_bookings_dates (B-tree, composite)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• idx_booking_services_booking (B-tree)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• idx_payments_booking (B-tree)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• idx_audit_table (B-tree)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• idx_audit_changed_at (B-tree)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+ расширение btree_gist для GiST-индексов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Times New Roman"/>
              </a:defRPr>
            </a:pPr>
            <a:r>
              <a:t>Представления (Views)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1260000"/>
          <a:ext cx="10800000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3600000"/>
                <a:gridCol w="3600000"/>
              </a:tblGrid>
              <a:tr h="936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Представление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Назначение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Используемые таблицы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</a:tr>
              <a:tr h="936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v_room_catalog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Каталог номеров с агрегированным списком удобств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rooms, room_categories, amenities, room_amenities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936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v_booking_details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Детальная информация о бронировании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bookings, users, rooms, room_categories</a:t>
                      </a:r>
                    </a:p>
                  </a:txBody>
                  <a:tcPr/>
                </a:tc>
              </a:tr>
              <a:tr h="936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v_revenue_by_category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Отчёт о выручке по категориям номеров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room_categories, rooms, bookings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9360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v_guest_statistics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Статистика по гостям (количество, сумма)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users, bookings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20000" y="50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  <a:latin typeface="Times New Roman"/>
              </a:defRPr>
            </a:pPr>
            <a:r>
              <a:t>Представления упрощают доступ к часто используемым данным и используются</a:t>
            </a:r>
            <a:br/>
            <a:r>
              <a:t>как в API-эндпоинтах (GET /rooms, GET /bookings), так и в отчётах.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Times New Roman"/>
              </a:defRPr>
            </a:pPr>
            <a:r>
              <a:t>Функции и хранимые процедуры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260000"/>
            <a:ext cx="54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5B6"/>
                </a:solidFill>
                <a:latin typeface="Times New Roman"/>
              </a:defRPr>
            </a:pPr>
            <a:r>
              <a:t>3 функции: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20000" y="1800000"/>
          <a:ext cx="540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/>
                <a:gridCol w="2700000"/>
              </a:tblGrid>
              <a:tr h="5400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Функция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Назначение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fn_room_is_free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Проверка доступности номера на даты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fn_calculate_booking_total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Расчёт стоимости бронирования</a:t>
                      </a:r>
                    </a:p>
                  </a:txBody>
                  <a:tcPr/>
                </a:tc>
              </a:tr>
              <a:tr h="540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fn_occupancy_rate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Расчёт % загрузки гостиницы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80000" y="1260000"/>
            <a:ext cx="54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5B6"/>
                </a:solidFill>
                <a:latin typeface="Times New Roman"/>
              </a:defRPr>
            </a:pPr>
            <a:r>
              <a:t>5 хранимых процедур: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80000" y="1800000"/>
          <a:ext cx="5400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/>
                <a:gridCol w="2700000"/>
              </a:tblGrid>
              <a:tr h="4800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Процедура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Назначение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sp_create_booking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Создание бронирования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sp_update_booking_status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Смена статуса</a:t>
                      </a:r>
                    </a:p>
                  </a:txBody>
                  <a:tcPr/>
                </a:tc>
              </a:tr>
              <a:tr h="480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sp_register_guest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Регистрация пользователя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sp_add_booking_service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Добавление услуги</a:t>
                      </a:r>
                    </a:p>
                  </a:txBody>
                  <a:tcPr/>
                </a:tc>
              </a:tr>
              <a:tr h="480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sp_generate_monthly_report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Месячный отчёт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Times New Roman"/>
              </a:defRPr>
            </a:pPr>
            <a:r>
              <a:t>Триггеры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1260000"/>
          <a:ext cx="10800000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/>
                <a:gridCol w="2700000"/>
                <a:gridCol w="2700000"/>
                <a:gridCol w="2700000"/>
              </a:tblGrid>
              <a:tr h="9360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Триггер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Событие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Функция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Назначение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</a:tr>
              <a:tr h="936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trg_booking_status_change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BEFORE UPDATE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fn_validate_status_transition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Контроль переходов статусов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936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trg_audit_bookings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AFTER INSERT/UPDATE/DELETE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fn_audit_log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Запись в аудит-лог (JSONB)</a:t>
                      </a:r>
                    </a:p>
                  </a:txBody>
                  <a:tcPr/>
                </a:tc>
              </a:tr>
              <a:tr h="936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trg_update_timestamp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BEFORE UPDATE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fn_set_updated_at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Автообновление updated_at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936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trg_check_room_capacity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BEFORE INSERT/UPDATE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fn_check_capacity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Проверка вместимости номера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20000" y="50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  <a:latin typeface="Times New Roman"/>
              </a:defRPr>
            </a:pPr>
            <a:r>
              <a:t>Триггеры обеспечивают автоматический контроль целостности данных</a:t>
            </a:r>
            <a:br/>
            <a:r>
              <a:t>и аудит всех изменений в бронированиях без участия приложения.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Times New Roman"/>
              </a:defRPr>
            </a:pPr>
            <a:r>
              <a:t>Интерфейс приложения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260000"/>
            <a:ext cx="54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5B6"/>
                </a:solidFill>
                <a:latin typeface="Times New Roman"/>
              </a:defRPr>
            </a:pPr>
            <a:r>
              <a:t>Десктопный клиент (Flet):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800000"/>
            <a:ext cx="54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• 7 экранов: вход, регистрация, каталог,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  бронирование, профиль, история, админ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• NavigationRail для навигации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• Material Design 3 компоненты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• Async HTTP (httpx)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• Кроссплатформенность: Win / Mac /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0" y="1260000"/>
            <a:ext cx="54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5B6"/>
                </a:solidFill>
                <a:latin typeface="Times New Roman"/>
              </a:defRPr>
            </a:pPr>
            <a:r>
              <a:t>Веб-клиент (SPA):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0" y="1800000"/>
            <a:ext cx="54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• Чистый JavaScript без фреймворков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• Адаптивный дизайн (мобильные + десктоп)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• CSS Variables для темизации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• Шрифт Inter, иконки Font Awesome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• Fetch API + JWT авторизация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• Доступ: http://77.221.151.85:8000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Times New Roman"/>
              </a:defRPr>
            </a:pPr>
            <a:r>
              <a:t>Пул SQL-запросов (12 типов)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1260000"/>
          <a:ext cx="10800000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3600000"/>
                <a:gridCol w="36000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№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Тип запроса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Пример применения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Простые с условием (LIKE, BETWEEN, IN)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Поиск номеров по критериям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Скалярные подзапросы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Средняя цена в SELECT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Табличные подзапросы (FROM)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Статистика из подзапроса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Кванторы (EXISTS, ALL)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Номера без бронирований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Множественные (UNION)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Объединение результатов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CTE (WITH)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Статистика по месяцам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Агрегатные (GROUP BY)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Выручка по категориям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Многотабличные (JOIN)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Детали бронирования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Строковые/датовые функции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Форматирование, конкатенация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Рекурсивные (WITH RECURSIVE)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Иерархия категорий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Сводные (CROSSTAB)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Загрузка по месяцам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Оконные (OVER)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Ранжирование номеров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Times New Roman"/>
              </a:defRPr>
            </a:pPr>
            <a:r>
              <a:t>Методы защиты данных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1260000"/>
          <a:ext cx="10800000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3600000"/>
                <a:gridCol w="3600000"/>
              </a:tblGrid>
              <a:tr h="468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Уровень защиты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Технология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Описание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1. Транспортный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HTTPS/TLS (nginx)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Шифрование канала между клиентом и сервером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2. Аутентификация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bcrypt (cost 12)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Безопасное хэширование паролей, устойчивость к rainbow tables</a:t>
                      </a:r>
                    </a:p>
                  </a:txBody>
                  <a:tcPr/>
                </a:tc>
              </a:tr>
              <a:tr h="46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3. Авторизация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JWT (HS256, 24ч)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Stateless токены с ролью и временем жизни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4. Приложение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RBAC (FastAPI DI)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Три роли: guest, manager, admin — проверка на каждом эндпоинте</a:t>
                      </a:r>
                    </a:p>
                  </a:txBody>
                  <a:tcPr/>
                </a:tc>
              </a:tr>
              <a:tr h="46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5. СУБД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GRANT / REVOKE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Три роли PostgreSQL с минимальными привилегиями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6. Строки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Row Level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Гость видит только свои данные, менеджер — все</a:t>
                      </a:r>
                    </a:p>
                  </a:txBody>
                  <a:tcPr/>
                </a:tc>
              </a:tr>
              <a:tr h="46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7. Аудит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Триггер + JSONB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Полный лог изменений: old_data / new_data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8. Валидация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Pydantic + домены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Двойная проверка: приложение + СУБД</a:t>
                      </a:r>
                    </a:p>
                  </a:txBody>
                  <a:tcPr/>
                </a:tc>
              </a:tr>
              <a:tr h="468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9. SQL-инъекции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asyncpg (бинарный)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Параметризованные запросы, Extended Query Protocol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Times New Roman"/>
              </a:defRPr>
            </a:pPr>
            <a:r>
              <a:t>RBAC и Row Level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260000"/>
            <a:ext cx="54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5B6"/>
                </a:solidFill>
                <a:latin typeface="Times New Roman"/>
              </a:defRPr>
            </a:pPr>
            <a:r>
              <a:t>Матрица доступа (RBAC):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20000" y="1800000"/>
          <a:ext cx="54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0000"/>
                <a:gridCol w="1350000"/>
                <a:gridCol w="1350000"/>
                <a:gridCol w="1350000"/>
              </a:tblGrid>
              <a:tr h="400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Ресурс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guest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manager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admin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Регистрация / вход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Просмотр номеров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+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Бронирование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Все бронирования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+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Смена статуса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Управление пользователями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+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Аудит-лог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+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Отчёты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+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80000" y="1260000"/>
            <a:ext cx="54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5B6"/>
                </a:solidFill>
                <a:latin typeface="Times New Roman"/>
              </a:defRPr>
            </a:pPr>
            <a:r>
              <a:t>Row Level Security: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0" y="1800000"/>
            <a:ext cx="54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• RLS включён для таблиц bookings и guest_profiles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• Политика для гостя: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  USING (user_id = current_setting(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    'app.current_user_id')::INTEGER)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• Политика для менеджера: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  USING (TRUE) — доступ ко всем строкам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• Изоляция данных на уровне СУБД —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  даже при обходе приложения гость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  <a:latin typeface="Times New Roman"/>
              </a:defRPr>
            </a:pPr>
            <a:r>
              <a:t>  не получит доступ к чужим данным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Times New Roman"/>
              </a:defRPr>
            </a:pPr>
            <a:r>
              <a:t>Тестирование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1260000"/>
          <a:ext cx="10800000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/>
                <a:gridCol w="2700000"/>
                <a:gridCol w="2700000"/>
                <a:gridCol w="27000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№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Тест-кейс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Метод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Результат</a:t>
                      </a:r>
                    </a:p>
                  </a:txBody>
                  <a:tcPr>
                    <a:solidFill>
                      <a:srgbClr val="1A477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Регистрация нового пользователя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POST /auth/register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Пройден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Авторизация (3 роли)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POST /auth/login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Пройден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Каталог номеров с фильтрами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GET /rooms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Пройден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Создание бронирования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POST /bookings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Пройден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Проверка пересечения дат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POST /bookings (конфликт)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Пройден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Смена статуса бронирования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PUT /bookings/{id}/status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Пройден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Скачивание PDF-бланка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GET /bookings/{id}/pdf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Пройден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Редактирование профиля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PUT /users/me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Пройден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Управление пользователями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GET /users, PUT /users/{id}/role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Пройден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Отчёт по выручке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GET /reports/revenue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Пройден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Аудит-лог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GET /reports/audit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Пройден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Блокировка пользователя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PUT /users/{id}/block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Пройден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90000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  <a:latin typeface="Times New Roman"/>
              </a:defRPr>
            </a:pPr>
            <a:r>
              <a:t>Заключение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26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5B6"/>
                </a:solidFill>
                <a:latin typeface="Times New Roman"/>
              </a:defRPr>
            </a:pPr>
            <a:r>
              <a:t>Результаты проекта: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800000"/>
            <a:ext cx="1080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Times New Roman"/>
              </a:defRPr>
            </a:pPr>
            <a:r>
              <a:t>✓ Спроектирована и реализована БД PostgreSQL 16 в 3НФ (11 таблиц, 3 домена, 3 ENUM)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Times New Roman"/>
              </a:defRPr>
            </a:pPr>
            <a:r>
              <a:t>✓ Создано 12 индексов (B-tree + GiST), 4 представления, 3 функции, 5 процедур, 4 триггера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Times New Roman"/>
              </a:defRPr>
            </a:pPr>
            <a:r>
              <a:t>✓ Реализованы политики Row Level Security для изоляции данных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Times New Roman"/>
              </a:defRPr>
            </a:pPr>
            <a:r>
              <a:t>✓ Разработан REST API на FastAPI (15+ эндпоинтов, JWT + bcrypt + RBAC)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Times New Roman"/>
              </a:defRPr>
            </a:pPr>
            <a:r>
              <a:t>✓ Разработан десктопный клиент на Flet (7 экранов)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Times New Roman"/>
              </a:defRPr>
            </a:pPr>
            <a:r>
              <a:t>✓ Разработан веб-клиент SPA (HTML/CSS/JS, адаптивный дизайн)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Times New Roman"/>
              </a:defRPr>
            </a:pPr>
            <a:r>
              <a:t>✓ Реализована генерация PDF-бланков заказов (ReportLab)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Times New Roman"/>
              </a:defRPr>
            </a:pPr>
            <a:r>
              <a:t>✓ Система развёрнута на сервере: http://77.221.151.85:8000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Times New Roman"/>
              </a:defRPr>
            </a:pPr>
            <a:r>
              <a:t>✓ Все 12 тест-кейсов успешно пройдены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  <a:latin typeface="Times New Roman"/>
              </a:defRPr>
            </a:pPr>
            <a:r>
              <a:t>✓ 11 SQL-скриптов в каталоге pg_scripts/ + 12 типов SQL-запросов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A4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00000" y="1800000"/>
            <a:ext cx="864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Times New Roman"/>
              </a:defRPr>
            </a:pPr>
            <a:r>
              <a:t>Спасибо за внимание!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0" y="3600000"/>
            <a:ext cx="86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Times New Roman"/>
              </a:defRPr>
            </a:pPr>
            <a:r>
              <a:t>Система доступна: http://77.221.151.85:8000</a:t>
            </a:r>
            <a:br/>
            <a:r>
              <a:t>GitHub: github.com/imooporos/hotel-management-system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